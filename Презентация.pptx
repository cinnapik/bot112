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embeddedFontLst>
    <p:embeddedFont>
      <p:font typeface="Open Sans SemiBold" panose="020B0706030804020204" pitchFamily="34" charset="0"/>
      <p:bold r:id="rId10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11160">
          <p15:clr>
            <a:srgbClr val="A4A3A4"/>
          </p15:clr>
        </p15:guide>
        <p15:guide id="3" orient="horz" pos="360">
          <p15:clr>
            <a:srgbClr val="A4A3A4"/>
          </p15:clr>
        </p15:guide>
        <p15:guide id="4" orient="horz" pos="1080">
          <p15:clr>
            <a:srgbClr val="A4A3A4"/>
          </p15:clr>
        </p15:guide>
        <p15:guide id="5" pos="480">
          <p15:clr>
            <a:srgbClr val="A4A3A4"/>
          </p15:clr>
        </p15:guide>
        <p15:guide id="6" orient="horz" pos="8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66"/>
      </p:cViewPr>
      <p:guideLst>
        <p:guide pos="360"/>
        <p:guide pos="11160"/>
        <p:guide orient="horz" pos="360"/>
        <p:guide orient="horz" pos="1080"/>
        <p:guide pos="480"/>
        <p:guide orient="horz" pos="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623417" y="1489150"/>
            <a:ext cx="17041200" cy="41052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623400" y="5668250"/>
            <a:ext cx="170412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623400" y="4301700"/>
            <a:ext cx="17041200" cy="168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pPr>
              <a:defRPr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 bwMode="auto"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two columns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 bwMode="auto"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6234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 bwMode="auto">
          <a:xfrm>
            <a:off x="9664799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 bwMode="auto"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623400" y="1111200"/>
            <a:ext cx="5616000" cy="15114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 bwMode="auto">
          <a:xfrm>
            <a:off x="623400" y="277920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Main point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 bwMode="auto">
          <a:xfrm>
            <a:off x="980500" y="900300"/>
            <a:ext cx="12735600" cy="8181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pPr>
              <a:defRPr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 bwMode="auto"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 bwMode="auto">
          <a:xfrm>
            <a:off x="531000" y="2466350"/>
            <a:ext cx="8090399" cy="29646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 bwMode="auto">
          <a:xfrm>
            <a:off x="531000" y="5606150"/>
            <a:ext cx="8090399" cy="2470199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 bwMode="auto">
          <a:xfrm>
            <a:off x="9879000" y="1448150"/>
            <a:ext cx="7674000" cy="739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aption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 bwMode="auto">
          <a:xfrm>
            <a:off x="623400" y="8461150"/>
            <a:ext cx="11997600" cy="121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pPr>
              <a:defRPr/>
            </a:pPr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g number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623400" y="2212250"/>
            <a:ext cx="17041200" cy="3927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 bwMode="auto">
          <a:xfrm>
            <a:off x="623400" y="6304450"/>
            <a:ext cx="17041200" cy="26016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подзаголовок 3" userDrawn="1">
  <p:cSld name="TITLE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 bwMode="auto">
          <a:xfrm>
            <a:off x="1333500" y="1724026"/>
            <a:ext cx="156210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 bwMode="auto">
          <a:xfrm>
            <a:off x="1333500" y="5305426"/>
            <a:ext cx="15621000" cy="1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36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2800"/>
            </a:lvl5pPr>
            <a:lvl6pPr marL="2743200" lvl="5" indent="-292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2800"/>
            </a:lvl6pPr>
            <a:lvl7pPr marL="3200400" lvl="6" indent="-292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2800"/>
            </a:lvl7pPr>
            <a:lvl8pPr marL="3657600" lvl="7" indent="-292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2800"/>
            </a:lvl8pPr>
            <a:lvl9pPr marL="4114800" lvl="8" indent="-292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 bwMode="auto">
          <a:xfrm>
            <a:off x="8969274" y="9810750"/>
            <a:ext cx="3402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 sz="20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DEFAULT" userDrawn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DEFAULT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>
            <a:spLocks noGrp="1"/>
          </p:cNvSpPr>
          <p:nvPr>
            <p:ph type="ctrTitle"/>
          </p:nvPr>
        </p:nvSpPr>
        <p:spPr bwMode="auto">
          <a:xfrm>
            <a:off x="623416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pPr>
              <a:defRPr/>
            </a:pPr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ubTitle" idx="1"/>
          </p:nvPr>
        </p:nvSpPr>
        <p:spPr bwMode="auto"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marL="914400" lvl="1" indent="-406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marL="1371600" lvl="2" indent="-406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marL="1828800" lvl="3" indent="-406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marL="2286000" lvl="4" indent="-406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marL="2743200" lvl="5" indent="-406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marL="3200400" lvl="6" indent="-406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marL="3657600" lvl="7" indent="-406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marL="4114800" lvl="8" indent="-4064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" name="Google Shape;65;p18" title="Логотипы-белый.png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5621000" y="571500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/>
          <p:nvPr/>
        </p:nvSpPr>
        <p:spPr bwMode="auto">
          <a:xfrm>
            <a:off x="1047750" y="3311188"/>
            <a:ext cx="16192500" cy="26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  <a:defRPr/>
            </a:pPr>
            <a:r>
              <a:rPr lang="ru" sz="6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</a:rPr>
              <a:t>Защита проектов</a:t>
            </a:r>
            <a:endParaRPr sz="6200">
              <a:solidFill>
                <a:schemeClr val="lt1"/>
              </a:solidFill>
              <a:latin typeface="Manrope ExtraBold"/>
              <a:ea typeface="Manrope ExtraBold"/>
              <a:cs typeface="Manrope ExtraBold"/>
            </a:endParaRPr>
          </a:p>
        </p:txBody>
      </p:sp>
      <p:sp>
        <p:nvSpPr>
          <p:cNvPr id="67" name="Google Shape;67;p18"/>
          <p:cNvSpPr/>
          <p:nvPr/>
        </p:nvSpPr>
        <p:spPr bwMode="auto">
          <a:xfrm>
            <a:off x="2120250" y="6313975"/>
            <a:ext cx="14047500" cy="21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2800" b="1">
                <a:solidFill>
                  <a:schemeClr val="lt1"/>
                </a:solidFill>
                <a:latin typeface="Manrope"/>
                <a:ea typeface="Manrope"/>
                <a:cs typeface="Manrope"/>
              </a:rPr>
              <a:t>Регламент:</a:t>
            </a:r>
            <a:endParaRPr sz="2800" b="1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2800" b="1">
                <a:solidFill>
                  <a:schemeClr val="lt1"/>
                </a:solidFill>
                <a:latin typeface="Manrope"/>
                <a:ea typeface="Manrope"/>
                <a:cs typeface="Manrope"/>
              </a:rPr>
              <a:t>Выступление</a:t>
            </a:r>
            <a:r>
              <a:rPr lang="ru" sz="2800">
                <a:solidFill>
                  <a:schemeClr val="lt1"/>
                </a:solidFill>
                <a:latin typeface="Manrope"/>
                <a:ea typeface="Manrope"/>
                <a:cs typeface="Manrope"/>
              </a:rPr>
              <a:t> — 3 минуты</a:t>
            </a:r>
            <a:endParaRPr sz="2800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2800">
                <a:solidFill>
                  <a:schemeClr val="lt1"/>
                </a:solidFill>
                <a:latin typeface="Manrope"/>
                <a:ea typeface="Manrope"/>
                <a:cs typeface="Manrope"/>
              </a:rPr>
              <a:t>и </a:t>
            </a:r>
            <a:r>
              <a:rPr lang="ru" sz="2800" b="1">
                <a:solidFill>
                  <a:schemeClr val="lt1"/>
                </a:solidFill>
                <a:latin typeface="Manrope"/>
                <a:ea typeface="Manrope"/>
                <a:cs typeface="Manrope"/>
              </a:rPr>
              <a:t>демонстрация прототипа</a:t>
            </a:r>
            <a:r>
              <a:rPr lang="ru" sz="2800">
                <a:solidFill>
                  <a:schemeClr val="lt1"/>
                </a:solidFill>
                <a:latin typeface="Manrope"/>
                <a:ea typeface="Manrope"/>
                <a:cs typeface="Manrope"/>
              </a:rPr>
              <a:t> — 2 минуты</a:t>
            </a:r>
            <a:endParaRPr sz="2800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800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  <a:defRPr/>
            </a:pPr>
            <a:endParaRPr sz="2800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68" name="Google Shape;68;p18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571500" y="571499"/>
            <a:ext cx="1510111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/>
        </p:nvSpPr>
        <p:spPr bwMode="auto"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/>
            </a:pPr>
            <a:endParaRPr sz="4000" b="1" i="0" u="none" strike="noStrike" cap="none">
              <a:solidFill>
                <a:srgbClr val="FF0000"/>
              </a:solidFill>
              <a:latin typeface="Open Sans SemiBold"/>
              <a:ea typeface="Open Sans SemiBold"/>
              <a:cs typeface="Open Sans SemiBold"/>
            </a:endParaRPr>
          </a:p>
        </p:txBody>
      </p:sp>
      <p:sp>
        <p:nvSpPr>
          <p:cNvPr id="90" name="Google Shape;90;p21"/>
          <p:cNvSpPr/>
          <p:nvPr/>
        </p:nvSpPr>
        <p:spPr bwMode="auto"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  <a:defRPr/>
            </a:pPr>
            <a:endParaRPr sz="46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  <p:pic>
        <p:nvPicPr>
          <p:cNvPr id="91" name="Google Shape;91;p21" title="мпит лого град.png"/>
          <p:cNvPicPr/>
          <p:nvPr/>
        </p:nvPicPr>
        <p:blipFill>
          <a:blip r:embed="rId3">
            <a:alphaModFix/>
          </a:blip>
          <a:srcRect t="-773" b="-9722"/>
          <a:stretch/>
        </p:blipFill>
        <p:spPr bwMode="auto"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/>
        </p:nvSpPr>
        <p:spPr bwMode="auto">
          <a:xfrm>
            <a:off x="2435552" y="5132908"/>
            <a:ext cx="13416897" cy="3063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300" tIns="123300" rIns="123300" bIns="123300" anchor="ctr" anchorCtr="0">
            <a:noAutofit/>
          </a:bodyPr>
          <a:lstStyle/>
          <a:p>
            <a:pPr marL="0" marR="0" lvl="0" indent="0" algn="ctr">
              <a:lnSpc>
                <a:spcPct val="114999"/>
              </a:lnSpc>
              <a:spcBef>
                <a:spcPts val="1349"/>
              </a:spcBef>
              <a:spcAft>
                <a:spcPts val="1349"/>
              </a:spcAft>
              <a:buClr>
                <a:srgbClr val="000000"/>
              </a:buClr>
              <a:buSzPts val="4046"/>
              <a:buFont typeface="Arial"/>
              <a:buNone/>
              <a:defRPr/>
            </a:pPr>
            <a:r>
              <a:rPr lang="ru" sz="4050" b="1" i="0" u="none" strike="noStrike" cap="none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DeBug</a:t>
            </a:r>
            <a:endParaRPr sz="4050" b="1" i="0" u="none" strike="noStrike" cap="none">
              <a:solidFill>
                <a:srgbClr val="5D39F5"/>
              </a:solidFill>
              <a:highlight>
                <a:srgbClr val="FF00FF"/>
              </a:highlight>
              <a:latin typeface="Manrope"/>
              <a:ea typeface="Manrope"/>
              <a:cs typeface="Manrope"/>
            </a:endParaRPr>
          </a:p>
        </p:txBody>
      </p:sp>
      <p:sp>
        <p:nvSpPr>
          <p:cNvPr id="93" name="Google Shape;93;p21"/>
          <p:cNvSpPr/>
          <p:nvPr/>
        </p:nvSpPr>
        <p:spPr bwMode="auto">
          <a:xfrm>
            <a:off x="7649701" y="2251108"/>
            <a:ext cx="2988600" cy="2881800"/>
          </a:xfrm>
          <a:prstGeom prst="ellipse">
            <a:avLst/>
          </a:prstGeom>
          <a:gradFill>
            <a:gsLst>
              <a:gs pos="0">
                <a:srgbClr val="FFFFFF">
                  <a:alpha val="85098"/>
                </a:srgbClr>
              </a:gs>
              <a:gs pos="100000">
                <a:srgbClr val="FFFFFF">
                  <a:alpha val="0"/>
                </a:srgbClr>
              </a:gs>
            </a:gsLst>
            <a:path path="circle"/>
          </a:gradFill>
          <a:ln w="38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3300" tIns="123300" rIns="123300" bIns="1233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27"/>
              <a:buFont typeface="Arial"/>
              <a:buNone/>
              <a:defRPr/>
            </a:pPr>
            <a:endParaRPr sz="2450" b="1" i="0" u="none" strike="noStrike" cap="none">
              <a:solidFill>
                <a:srgbClr val="5D39F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71901477" name="Рисунок 671901476"/>
          <p:cNvPicPr>
            <a:picLocks noChangeAspect="1"/>
          </p:cNvPicPr>
          <p:nvPr/>
        </p:nvPicPr>
        <p:blipFill>
          <a:blip r:embed="rId4"/>
          <a:srcRect l="5833" t="51053" r="53920" b="11659"/>
          <a:stretch/>
        </p:blipFill>
        <p:spPr bwMode="auto">
          <a:xfrm>
            <a:off x="6986477" y="1760377"/>
            <a:ext cx="4169870" cy="38632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/>
        </p:nvSpPr>
        <p:spPr bwMode="auto"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/>
            </a:pPr>
            <a:endParaRPr sz="4000" b="1" i="0" u="none" strike="noStrike" cap="none">
              <a:solidFill>
                <a:srgbClr val="FF0000"/>
              </a:solidFill>
              <a:latin typeface="Open Sans SemiBold"/>
              <a:ea typeface="Open Sans SemiBold"/>
              <a:cs typeface="Open Sans SemiBold"/>
            </a:endParaRPr>
          </a:p>
        </p:txBody>
      </p:sp>
      <p:sp>
        <p:nvSpPr>
          <p:cNvPr id="99" name="Google Shape;99;p22"/>
          <p:cNvSpPr/>
          <p:nvPr/>
        </p:nvSpPr>
        <p:spPr bwMode="auto"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  <a:defRPr/>
            </a:pPr>
            <a:r>
              <a:rPr lang="ru" sz="4600" b="1">
                <a:solidFill>
                  <a:schemeClr val="dk1"/>
                </a:solidFill>
                <a:latin typeface="Manrope"/>
                <a:ea typeface="Manrope"/>
                <a:cs typeface="Manrope"/>
              </a:rPr>
              <a:t>Проблема</a:t>
            </a:r>
            <a:endParaRPr sz="46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  <p:pic>
        <p:nvPicPr>
          <p:cNvPr id="100" name="Google Shape;100;p22" title="мпит лого град.png"/>
          <p:cNvPicPr/>
          <p:nvPr/>
        </p:nvPicPr>
        <p:blipFill>
          <a:blip r:embed="rId3">
            <a:alphaModFix/>
          </a:blip>
          <a:srcRect t="-773" b="-9722"/>
          <a:stretch/>
        </p:blipFill>
        <p:spPr bwMode="auto"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2"/>
          <p:cNvSpPr txBox="1"/>
          <p:nvPr/>
        </p:nvSpPr>
        <p:spPr bwMode="auto">
          <a:xfrm>
            <a:off x="761999" y="2732645"/>
            <a:ext cx="16714800" cy="30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ru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Обращения поступают разрозненно через разные каналы, детали теряются, а время реакции увеличивается. Отсутствие единой аналитики и контроля усугубляет проблему, снижая качество обслуживания.</a:t>
            </a:r>
            <a:endParaRPr sz="4000" i="1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38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/>
        </p:nvSpPr>
        <p:spPr bwMode="auto"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/>
            </a:pPr>
            <a:endParaRPr sz="4000" b="1" i="0" u="none" strike="noStrike" cap="none">
              <a:solidFill>
                <a:srgbClr val="FF0000"/>
              </a:solidFill>
              <a:latin typeface="Open Sans SemiBold"/>
              <a:ea typeface="Open Sans SemiBold"/>
              <a:cs typeface="Open Sans SemiBold"/>
            </a:endParaRPr>
          </a:p>
        </p:txBody>
      </p:sp>
      <p:sp>
        <p:nvSpPr>
          <p:cNvPr id="107" name="Google Shape;107;p23"/>
          <p:cNvSpPr/>
          <p:nvPr/>
        </p:nvSpPr>
        <p:spPr bwMode="auto"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  <a:defRPr/>
            </a:pPr>
            <a:r>
              <a:rPr lang="ru" sz="4600" b="1">
                <a:solidFill>
                  <a:schemeClr val="dk1"/>
                </a:solidFill>
                <a:latin typeface="Manrope"/>
                <a:ea typeface="Manrope"/>
                <a:cs typeface="Manrope"/>
              </a:rPr>
              <a:t>Целевая аудитория</a:t>
            </a:r>
            <a:endParaRPr sz="46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  <p:pic>
        <p:nvPicPr>
          <p:cNvPr id="108" name="Google Shape;108;p23" title="мпит лого град.png"/>
          <p:cNvPicPr/>
          <p:nvPr/>
        </p:nvPicPr>
        <p:blipFill>
          <a:blip r:embed="rId3">
            <a:alphaModFix/>
          </a:blip>
          <a:srcRect t="-773" b="-9722"/>
          <a:stretch/>
        </p:blipFill>
        <p:spPr bwMode="auto"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3"/>
          <p:cNvSpPr txBox="1"/>
          <p:nvPr/>
        </p:nvSpPr>
        <p:spPr bwMode="auto">
          <a:xfrm>
            <a:off x="762000" y="2208068"/>
            <a:ext cx="16714800" cy="443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26195" indent="-526195" algn="just">
              <a:buFont typeface="Arial"/>
              <a:buChar char="•"/>
              <a:defRPr/>
            </a:pPr>
            <a:r>
              <a:rPr lang="en-US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Жители: быстро подать обращение с фото/видео и геолокацией.</a:t>
            </a:r>
            <a:endParaRPr lang="en-US" sz="40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526195" indent="-526195" algn="just">
              <a:buFont typeface="Arial"/>
              <a:buChar char="•"/>
              <a:defRPr/>
            </a:pPr>
            <a:r>
              <a:rPr lang="en-US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Операторы/админы: карточки заявок, статусы, диалоги, отчёты.</a:t>
            </a:r>
          </a:p>
          <a:p>
            <a:pPr marL="526195" indent="-526195" algn="just">
              <a:buFont typeface="Arial"/>
              <a:buChar char="•"/>
              <a:defRPr/>
            </a:pPr>
            <a:r>
              <a:rPr lang="en-US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Подразделения (Пожарная часть, Полиция, МЧС и др.): получать только профильные заявки</a:t>
            </a:r>
            <a:endParaRPr lang="en-US" sz="40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4000" i="1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38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/>
        </p:nvSpPr>
        <p:spPr bwMode="auto"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/>
            </a:pPr>
            <a:endParaRPr sz="4000" b="1" i="0" u="none" strike="noStrike" cap="none">
              <a:solidFill>
                <a:srgbClr val="FF0000"/>
              </a:solidFill>
              <a:latin typeface="Open Sans SemiBold"/>
              <a:ea typeface="Open Sans SemiBold"/>
              <a:cs typeface="Open Sans SemiBold"/>
            </a:endParaRPr>
          </a:p>
        </p:txBody>
      </p:sp>
      <p:sp>
        <p:nvSpPr>
          <p:cNvPr id="115" name="Google Shape;115;p24"/>
          <p:cNvSpPr/>
          <p:nvPr/>
        </p:nvSpPr>
        <p:spPr bwMode="auto"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  <a:defRPr/>
            </a:pPr>
            <a:r>
              <a:rPr lang="ru" sz="4600" b="1">
                <a:solidFill>
                  <a:schemeClr val="dk1"/>
                </a:solidFill>
                <a:latin typeface="Manrope"/>
                <a:ea typeface="Manrope"/>
                <a:cs typeface="Manrope"/>
              </a:rPr>
              <a:t>Использованные набора технологий</a:t>
            </a:r>
            <a:endParaRPr sz="46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  <p:pic>
        <p:nvPicPr>
          <p:cNvPr id="116" name="Google Shape;116;p24" title="мпит лого град.png"/>
          <p:cNvPicPr/>
          <p:nvPr/>
        </p:nvPicPr>
        <p:blipFill>
          <a:blip r:embed="rId3">
            <a:alphaModFix/>
          </a:blip>
          <a:srcRect t="-773" b="-9722"/>
          <a:stretch/>
        </p:blipFill>
        <p:spPr bwMode="auto"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4"/>
          <p:cNvSpPr txBox="1"/>
          <p:nvPr/>
        </p:nvSpPr>
        <p:spPr bwMode="auto">
          <a:xfrm>
            <a:off x="762000" y="1841563"/>
            <a:ext cx="16714800" cy="535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26195" indent="-526195" algn="just">
              <a:buFont typeface="Arial"/>
              <a:buChar char="•"/>
              <a:defRPr/>
            </a:pPr>
            <a:r>
              <a:rPr lang="en-US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Python 3.11 — современный, гибкий и лёгкий язык, идеально подходящий для быстрой разработки прототипов.</a:t>
            </a:r>
            <a:endParaRPr lang="en-US" sz="40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526195" indent="-526195" algn="just">
              <a:buFont typeface="Arial"/>
              <a:buChar char="•"/>
              <a:defRPr/>
            </a:pPr>
            <a:r>
              <a:rPr lang="en-US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Библиотека python-telegram-bot v20+ — отвечает за логику общения с Telegram API, обработку сообщений, кнопок, медиа и геолокации.</a:t>
            </a:r>
            <a:endParaRPr lang="en-US" sz="40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526195" lvl="0" indent="-526195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SQLite — локальная база данных для хранения пользователей, заявок, маршрутов, диалогов и логов. Простая, лёгкая, не требует отдельного сервера</a:t>
            </a:r>
            <a:endParaRPr sz="4000" i="1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4000" i="1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38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/>
        </p:nvSpPr>
        <p:spPr bwMode="auto"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/>
            </a:pPr>
            <a:endParaRPr sz="4000" b="1" i="0" u="none" strike="noStrike" cap="none">
              <a:solidFill>
                <a:srgbClr val="FF0000"/>
              </a:solidFill>
              <a:latin typeface="Open Sans SemiBold"/>
              <a:ea typeface="Open Sans SemiBold"/>
              <a:cs typeface="Open Sans SemiBold"/>
            </a:endParaRPr>
          </a:p>
        </p:txBody>
      </p:sp>
      <p:sp>
        <p:nvSpPr>
          <p:cNvPr id="123" name="Google Shape;123;p25"/>
          <p:cNvSpPr/>
          <p:nvPr/>
        </p:nvSpPr>
        <p:spPr bwMode="auto"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  <a:defRPr/>
            </a:pPr>
            <a:r>
              <a:rPr lang="ru" sz="4600" b="1">
                <a:solidFill>
                  <a:schemeClr val="dk1"/>
                </a:solidFill>
                <a:latin typeface="Manrope"/>
                <a:ea typeface="Manrope"/>
                <a:cs typeface="Manrope"/>
              </a:rPr>
              <a:t>Решение</a:t>
            </a:r>
            <a:endParaRPr sz="46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  <p:pic>
        <p:nvPicPr>
          <p:cNvPr id="124" name="Google Shape;124;p25" title="мпит лого град.png"/>
          <p:cNvPicPr/>
          <p:nvPr/>
        </p:nvPicPr>
        <p:blipFill>
          <a:blip r:embed="rId3">
            <a:alphaModFix/>
          </a:blip>
          <a:srcRect t="-773" b="-9722"/>
          <a:stretch/>
        </p:blipFill>
        <p:spPr bwMode="auto"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/>
        </p:nvSpPr>
        <p:spPr bwMode="auto">
          <a:xfrm>
            <a:off x="761999" y="1884859"/>
            <a:ext cx="16714800" cy="30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sz="36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Единый Telegram-бот + панель администратора + локальная БД</a:t>
            </a:r>
            <a:endParaRPr lang="en-US" sz="36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>
              <a:defRPr/>
            </a:pPr>
            <a:endParaRPr lang="en-US" sz="36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482138" indent="-482138">
              <a:buFont typeface="Arial"/>
              <a:buChar char="•"/>
              <a:defRPr/>
            </a:pPr>
            <a:r>
              <a:rPr lang="en-US" sz="36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Единый вход: заявления от граждан в ЛС бота (текст, фото/видео, геолокация).</a:t>
            </a:r>
            <a:endParaRPr lang="en-US" sz="36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482138" indent="-482138">
              <a:buFont typeface="Arial"/>
              <a:buChar char="•"/>
              <a:defRPr/>
            </a:pPr>
            <a:r>
              <a:rPr lang="en-US" sz="36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Карточка заявки: номер, категория, координаты, вложения, таймстемпы</a:t>
            </a:r>
            <a:endParaRPr lang="en-US" sz="36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482138" indent="-482138">
              <a:buFont typeface="Arial"/>
              <a:buChar char="•"/>
              <a:defRPr/>
            </a:pPr>
            <a:r>
              <a:rPr lang="en-US" sz="36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Роли: Пользователь ↔ Администратор (оператор).</a:t>
            </a:r>
            <a:endParaRPr lang="en-US" sz="36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482138" indent="-482138">
              <a:buFont typeface="Arial"/>
              <a:buChar char="•"/>
              <a:defRPr/>
            </a:pPr>
            <a:r>
              <a:rPr lang="en-US" sz="36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Ручная маршрутизация: оператор направляет в нужный отдел (без авто-рассылки).</a:t>
            </a:r>
            <a:endParaRPr lang="en-US" sz="36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482138" indent="-482138">
              <a:buFont typeface="Arial"/>
              <a:buChar char="•"/>
              <a:defRPr/>
            </a:pPr>
            <a:r>
              <a:rPr lang="en-US" sz="36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Статусы: Новая → В работе → Завершено/Отклонено.</a:t>
            </a: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4000" i="1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4000" i="1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38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/>
        </p:nvSpPr>
        <p:spPr bwMode="auto">
          <a:xfrm>
            <a:off x="3891886" y="9117209"/>
            <a:ext cx="10617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/>
            </a:pPr>
            <a:endParaRPr sz="4000" b="1" i="0" u="none" strike="noStrike" cap="none">
              <a:solidFill>
                <a:srgbClr val="FF0000"/>
              </a:solidFill>
              <a:latin typeface="Open Sans SemiBold"/>
              <a:ea typeface="Open Sans SemiBold"/>
              <a:cs typeface="Open Sans SemiBold"/>
            </a:endParaRPr>
          </a:p>
        </p:txBody>
      </p:sp>
      <p:sp>
        <p:nvSpPr>
          <p:cNvPr id="131" name="Google Shape;131;p26"/>
          <p:cNvSpPr/>
          <p:nvPr/>
        </p:nvSpPr>
        <p:spPr bwMode="auto"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  <a:defRPr/>
            </a:pPr>
            <a:r>
              <a:rPr lang="ru" sz="4600" b="1">
                <a:solidFill>
                  <a:schemeClr val="dk1"/>
                </a:solidFill>
                <a:latin typeface="Manrope"/>
                <a:ea typeface="Manrope"/>
                <a:cs typeface="Manrope"/>
              </a:rPr>
              <a:t>Альтернативные подходы</a:t>
            </a:r>
            <a:endParaRPr sz="46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  <a:defRPr/>
            </a:pPr>
            <a:endParaRPr sz="46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  <p:pic>
        <p:nvPicPr>
          <p:cNvPr id="132" name="Google Shape;132;p26" title="мпит лого град.png"/>
          <p:cNvPicPr/>
          <p:nvPr/>
        </p:nvPicPr>
        <p:blipFill>
          <a:blip r:embed="rId3">
            <a:alphaModFix/>
          </a:blip>
          <a:srcRect t="-773" b="-9722"/>
          <a:stretch/>
        </p:blipFill>
        <p:spPr bwMode="auto">
          <a:xfrm>
            <a:off x="15621000" y="571503"/>
            <a:ext cx="20955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/>
        </p:nvSpPr>
        <p:spPr bwMode="auto">
          <a:xfrm>
            <a:off x="762000" y="1714500"/>
            <a:ext cx="16714800" cy="6540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lang="en-US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1) Традиционные каналы: телефон/112, e-mail, офлайн-приём</a:t>
            </a:r>
          </a:p>
          <a:p>
            <a:pPr marL="1326295" lvl="2" indent="-526195">
              <a:buFont typeface="Arial"/>
              <a:buChar char="•"/>
              <a:defRPr/>
            </a:pPr>
            <a:r>
              <a:rPr lang="en-US" sz="24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Плюсы: привычно, не требует обучения граждан.</a:t>
            </a:r>
            <a:endParaRPr lang="en-US" sz="24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1326295" lvl="2" indent="-526195">
              <a:buFont typeface="Arial"/>
              <a:buChar char="•"/>
              <a:defRPr/>
            </a:pPr>
            <a:r>
              <a:rPr lang="en-US" sz="24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Минусы: нет прозрачных статусов и истории, трудно прикреплять фото/гео, высокий риск потери контекста, ручной реестр.</a:t>
            </a:r>
            <a:endParaRPr lang="en-US" sz="48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>
              <a:defRPr/>
            </a:pPr>
            <a:r>
              <a:rPr lang="en-US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2) Соцсети и мессенджеры «как есть» (без бота)</a:t>
            </a:r>
          </a:p>
          <a:p>
            <a:pPr marL="1150065" lvl="2" indent="-349965">
              <a:buFont typeface="Arial"/>
              <a:buChar char="•"/>
              <a:defRPr/>
            </a:pPr>
            <a:r>
              <a:rPr lang="en-US" sz="24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Плюсы: большой охват, низкий порог входа.</a:t>
            </a:r>
            <a:endParaRPr lang="en-US" sz="24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1150065" lvl="2" indent="-349965">
              <a:buFont typeface="Arial"/>
              <a:buChar char="•"/>
              <a:defRPr/>
            </a:pPr>
            <a:r>
              <a:rPr lang="en-US" sz="24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Минусы: обращения расползаются по группам/личкам, дубли, нет маршрутизации и SLA, слабая приватность.</a:t>
            </a:r>
            <a:endParaRPr lang="en-US" sz="4000" b="0" i="1" u="none" strike="noStrike" cap="none" spc="0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>
              <a:defRPr/>
            </a:pPr>
            <a:r>
              <a:rPr lang="en-US" sz="40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3) Городские порталы/мобильные приложения для обращений</a:t>
            </a:r>
            <a:endParaRPr lang="en-US" sz="40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1326295" lvl="2" indent="-526195">
              <a:buFont typeface="Arial"/>
              <a:buChar char="•"/>
              <a:defRPr/>
            </a:pPr>
            <a:r>
              <a:rPr lang="en-US" sz="24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Плюсы: структурированные формы, интеграции, формальные SLA.</a:t>
            </a:r>
            <a:endParaRPr lang="en-US" sz="24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1326295" lvl="2" indent="-526195">
              <a:buFont typeface="Arial"/>
              <a:buChar char="•"/>
              <a:defRPr/>
            </a:pPr>
            <a:r>
              <a:rPr lang="en-US" sz="2400" b="0" i="1" u="none" strike="noStrike" cap="none" spc="0">
                <a:solidFill>
                  <a:srgbClr val="5D39F5"/>
                </a:solidFill>
                <a:latin typeface="Manrope"/>
                <a:ea typeface="Manrope"/>
                <a:cs typeface="Manrope"/>
              </a:rPr>
              <a:t>Минусы: высокий порог входа (регистрация, длинные анкеты), медленный онбординг, низкая конверсия «на ходу», долгий цикл внедрения.</a:t>
            </a:r>
            <a:endParaRPr lang="en-US" sz="2400" b="0" i="1" u="none" strike="noStrike" cap="none" spc="0">
              <a:solidFill>
                <a:srgbClr val="5D39F5"/>
              </a:solidFill>
              <a:latin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4000" i="1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4000" i="1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4000" i="1">
              <a:solidFill>
                <a:srgbClr val="5D39F5"/>
              </a:solidFill>
              <a:latin typeface="Manrope"/>
              <a:ea typeface="Manrope"/>
              <a:cs typeface="Manrope"/>
            </a:endParaRPr>
          </a:p>
          <a:p>
            <a:pPr marL="0" lvl="0" indent="0" algn="ctr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sz="3800" b="1">
              <a:solidFill>
                <a:schemeClr val="dk1"/>
              </a:solidFill>
              <a:latin typeface="Manrope"/>
              <a:ea typeface="Manrope"/>
              <a:cs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Произвольный</PresentationFormat>
  <Paragraphs>36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6" baseType="lpstr">
      <vt:lpstr>Open Sans SemiBold</vt:lpstr>
      <vt:lpstr>Manrope Medium</vt:lpstr>
      <vt:lpstr>Inter SemiBold</vt:lpstr>
      <vt:lpstr>Helvetica Neue Light</vt:lpstr>
      <vt:lpstr>Manrope</vt:lpstr>
      <vt:lpstr>Manrope ExtraBold</vt:lpstr>
      <vt:lpstr>Arial</vt:lpstr>
      <vt:lpstr>Simple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St</cp:lastModifiedBy>
  <cp:revision>1</cp:revision>
  <dcterms:modified xsi:type="dcterms:W3CDTF">2025-11-12T07:49:45Z</dcterms:modified>
</cp:coreProperties>
</file>